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AI의 함정: 할루시네이션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164592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16459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64008" cy="347472"/>
          </a:xfrm>
          <a:prstGeom prst="rect">
            <a:avLst/>
          </a:prstGeom>
          <a:solidFill>
            <a:srgbClr val="E07030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9692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AI의 함정: 할루시네이션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4F8F4"/>
          </a:solidFill>
          <a:ln w="12700">
            <a:solidFill>
              <a:srgbClr val="D6E4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852928"/>
            <a:ext cx="3291840" cy="36576"/>
          </a:xfrm>
          <a:prstGeom prst="rect">
            <a:avLst/>
          </a:prstGeom>
          <a:solidFill>
            <a:srgbClr val="3D7B5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16093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정보의 왜곡 (Hallucination)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198424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ChatGPT나 제미나이는 LLM(대화형 생성모델)입니다. 정확한 지침이 없으면 존재하지 않는 원료나 법규를 지어내는 정보 왜곡이 발생합니다.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1481328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F4F8F4"/>
          </a:solidFill>
          <a:ln w="12700">
            <a:solidFill>
              <a:srgbClr val="D6E4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20640" y="2852928"/>
            <a:ext cx="3291840" cy="36576"/>
          </a:xfrm>
          <a:prstGeom prst="rect">
            <a:avLst/>
          </a:prstGeom>
          <a:solidFill>
            <a:srgbClr val="3D7B5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45920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13248" y="16093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현실 왜곡 방지 전략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074920" y="198424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임의로 판단하지 않도록 정확한 데이터와 기술 자료를 먼저 제공해야 합니다. 이는 AI 결과물의 신뢰성을 결정하는 핵심입니다.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315468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2D3B2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91256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1520" y="31546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PROMPT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457200" y="3374136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9F7F2"/>
          </a:solidFill>
          <a:ln w="19050">
            <a:solidFill>
              <a:srgbClr val="C8C0B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8368" y="3529584"/>
            <a:ext cx="594360" cy="45720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58368" y="352958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× 400</a:t>
            </a:r>
            <a:endParaRPr lang="en-US" sz="550" dirty="0"/>
          </a:p>
        </p:txBody>
      </p:sp>
      <p:sp>
        <p:nvSpPr>
          <p:cNvPr id="24" name="Text 19"/>
          <p:cNvSpPr/>
          <p:nvPr/>
        </p:nvSpPr>
        <p:spPr>
          <a:xfrm>
            <a:off x="1371600" y="3465576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"현재 분석된 제품 트렌드에서 식품 공전 상 허용되지 않는 원료 조합이 포함되어 있는지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법적 근거를 바탕으로 검증해줘."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772400" y="3557016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2D3B2D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3630168"/>
            <a:ext cx="146304" cy="1463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964424" y="35570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" y="43434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프롬프트에 법적 근거와 데이터 기반 검증을 요청하면 할루시네이션을 효과적으로 방지할 수 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식품 분야 할루시네이션 실제 사례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164592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16459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64008" cy="347472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9692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이런 답변, 믿어도 될까?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5F5"/>
          </a:solidFill>
          <a:ln w="12700">
            <a:solidFill>
              <a:srgbClr val="F0D0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91056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할루시네이션 발생 사례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5800" y="184708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 "탄산음료에 스테비올배당체 사용 기준을 알려줘"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"스테비올배당체는 탄산음료에 0.02g/kg 이하로 사용 가능합니다" </a:t>
            </a: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 실제 식품공전에는 해당 수치가 존재하지 않음 (AI가 수치를 지어냄)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 "자몽추출물의 식품첨가물 인허가 현황은?"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"자몽종자추출물은 식품첨가물공전에 보존료로 등재되어 있습니다" </a:t>
            </a:r>
            <a:pPr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실제로는 미등재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88036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0FFF5"/>
          </a:solidFill>
          <a:ln w="12700">
            <a:solidFill>
              <a:srgbClr val="C0E8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90088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올바른 프롬프트로 방지한 사례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85800" y="3246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 "스테비올배당체의 식품공전 사용 기준을 알려줘. </a:t>
            </a:r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반드시 식품첨가물공전 원문을 근거로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제시하고, 확인 불가능한 정보는 '미확인'으로 표기해줘"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"스테비올배당체는 감미료 품목에 해당하며, 식품유형별 사용 기준은 식품첨가물공전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별표3을 참고하시기 바랍니다. 탄산음료 카테고리의 구체적 수치는 원문 확인이 필요합니다."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DE8"/>
          </a:solidFill>
          <a:ln w="12700">
            <a:solidFill>
              <a:srgbClr val="E8D88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38912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43159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 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'그럴듯한 거짓말'을 잘 합니다. 식품공전·첨가물공전 원문 확인은 필수이며, </a:t>
            </a:r>
            <a:pPr indent="0" marL="0">
              <a:buNone/>
            </a:pPr>
            <a:r>
              <a:rPr lang="en-US" sz="1050" b="1" dirty="0">
                <a:solidFill>
                  <a:srgbClr val="E07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"출처를 밝혀라", "모르면 모른다고 해라"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를 프롬프트에 반드시 포함하세요.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할루시네이션 방지 체크리스트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18120" y="164592"/>
            <a:ext cx="960120" cy="438912"/>
          </a:xfrm>
          <a:prstGeom prst="roundRect">
            <a:avLst>
              <a:gd name="adj" fmla="val 125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818120" y="16459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64008" cy="347472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9692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결과물 검증 3단계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8F1F8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572768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1975B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727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55448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1874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 명시 요구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2212848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프롬프트에 반드시 포함: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"식품공전/첨가물공전 원문을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근거로 답변해줘.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 불가한 정보는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'미확인'으로 표시해줘"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46120" y="14630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0FFF5"/>
          </a:solidFill>
          <a:ln w="12700">
            <a:solidFill>
              <a:srgbClr val="C0E8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0" y="1572768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3D7B5F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5727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55448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83280" y="1874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 검증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83280" y="2212848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답변을 아래 사이트에서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반드시 재확인: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식품안전나라 (foodsafetykorea.go.kr)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식품공전 (foodcode.mfds.go.kr)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식품첨가물공전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035040" y="14630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DE8"/>
          </a:solidFill>
          <a:ln w="12700">
            <a:solidFill>
              <a:srgbClr val="E8D88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72200" y="1572768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E07030"/>
          </a:solidFill>
          <a:ln/>
        </p:spPr>
      </p:sp>
      <p:sp>
        <p:nvSpPr>
          <p:cNvPr id="22" name="Text 18"/>
          <p:cNvSpPr/>
          <p:nvPr/>
        </p:nvSpPr>
        <p:spPr>
          <a:xfrm>
            <a:off x="6172200" y="15727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55448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72200" y="18745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팩트체크 습관화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172200" y="2212848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포인트 리스트: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원료명이 공전에 존재하는가?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사용 기준 수치가 정확한가?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허용 식품유형이 맞는가?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인용된 법령/고시가 실재하는가?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035808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5824728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457200" y="411480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1F8"/>
          </a:solidFill>
          <a:ln w="12700">
            <a:solidFill>
              <a:srgbClr val="C0D8EC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87952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05840" y="4133088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기억하세요!  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보조 도구입니다. 최종 판단은 반드시 공인된 데이터베이스와 법령 원문으로 검증하세요.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2026-03-19T13:19:38Z</dcterms:created>
  <dcterms:modified xsi:type="dcterms:W3CDTF">2026-03-19T13:19:38Z</dcterms:modified>
</cp:coreProperties>
</file>