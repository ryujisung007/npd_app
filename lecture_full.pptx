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75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45720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KFI 한국식품정보원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식품개발 실무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AI를 식품 R&amp;D에 올바르게 활용하는 6주 과정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9144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6주 (12차시)  ·  ⏱️ 차시당 90분  ·  🧪 실습 60%  ·  🎯 식품전공 학생 대상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AI와 식품 R…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8288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엔지니…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2004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 데이터와 …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검색 …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9436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식품…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315200" y="411480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4096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431596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프로젝트 …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 (Index)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1975B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개론 + 할루시네이션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0972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1~2차시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758952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69164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9164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691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 + 페르소나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3~4차시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97280" y="2240280"/>
            <a:ext cx="758952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33172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E07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317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식품안전나라 API + 공전 활용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5~6차시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97280" y="2880360"/>
            <a:ext cx="758952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97180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D9404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97180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" y="2971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3200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RAG: 벡터 DB + 검색 증강 생성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7~8차시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7280" y="3520440"/>
            <a:ext cx="758952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61188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11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3611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NPD 파이프라인 + Streamlit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1520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9~10차시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97280" y="4160520"/>
            <a:ext cx="7589520" cy="0"/>
          </a:xfrm>
          <a:prstGeom prst="line">
            <a:avLst/>
          </a:prstGeom>
          <a:noFill/>
          <a:ln w="6350">
            <a:solidFill>
              <a:srgbClr val="E8E4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251960"/>
            <a:ext cx="502920" cy="475488"/>
          </a:xfrm>
          <a:prstGeom prst="roundRect">
            <a:avLst>
              <a:gd name="adj" fmla="val 11538"/>
            </a:avLst>
          </a:prstGeom>
          <a:solidFill>
            <a:srgbClr val="0EA5E9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25196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251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9728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프로젝트 발표 &amp; 회고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11~12차시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75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AI와 식품 R&amp;D: 기초 이해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 ·  1~2차시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LLM의 작동 원리와 한계를 이해한다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 분야에서 AI 활용 사례를 파악한다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Gemini, Claude의 특성을 비교한다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1차시: 생성형 AI란 무엇인가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AI와 식품 R&amp;D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LLM(대규모 언어 모델)의 작동 원리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1463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토큰화 &amp; 확률 생성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텍스트를 토큰(단어 조각)으로 분해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다음 토큰의 확률을 계산하여 순차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'가장 그럴듯한' 다음 단어를 선택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정답이 아닌 확률적 추론 결과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54864" cy="14630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 데이터의 한계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6118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학습 시점 이후 정보는 모름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한국 식품법규 데이터 부족 가능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전문 영역일수록 오류 확률 증가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'모른다'고 답하기보다 지어냄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'이해'하는 것이 아니라 '패턴을 모방'합니다. 식품 법규처럼 정확성이 중요한 영역에서는 반드시 교차 검증이 필요합니다.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AI 모델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1차시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ChatGPT vs Gemini vs Claude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5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(OpenAI)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5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(Google)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5B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(Anthropic)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75B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강점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범용성, 플러그인 생태계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멀티모달, 검색 연동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긴 맥락 처리, 안전성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약점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최신 정보 부족 가능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한국어 정확도 편차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검색 제한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식품 R&amp;D 적합성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배합/마케팅 초안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트렌드 분석, 이미지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법규 검증, 장문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추천 용도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아이디어 브레인스토밍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시장 데이터 수집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기반 검증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각 모델의 장단점을 이해하고 상황에 맞게 선택하는 것이 중요합니다.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산업 AI 활용 사례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1차시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R&amp;D에서 AI는 어디까지 왔나?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164592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원료 검증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식품공전 적합성 검토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원료 규제 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0" y="141732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417320"/>
            <a:ext cx="54864" cy="164592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490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배합 설계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764792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Brix/pH 기반 최적화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원가 절감 배합 제안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417320"/>
            <a:ext cx="54864" cy="164592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490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분석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764792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트렌드 키워드 추출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제품 비교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1417320"/>
            <a:ext cx="192024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417320"/>
            <a:ext cx="54864" cy="164592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4904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관리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1764792"/>
            <a:ext cx="1600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HACCP 위해요소 분석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유통기한 예측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토론 주제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"AI가 식품 R&amp;D 연구원을 대체할 수 있을까?" — 각자의 의견을 3분 내로 정리하고 발표해봅시다.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55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2차시: AI의 함정 — 할루시네이션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AI와 식품 R&amp;D 기초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AI의 함정: 할루시네이션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63040"/>
            <a:ext cx="54864" cy="128016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정보의 왜곡 (Hallucination)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81051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ChatGPT나 제미나이는 LLM입니다.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지침이 없으면 존재하지 않는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원료나 법규를 지어내는 정보 왜곡이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발생합니다.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931920" cy="1280160"/>
          </a:xfrm>
          <a:prstGeom prst="roundRect">
            <a:avLst>
              <a:gd name="adj" fmla="val 571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54864" cy="128016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53619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현실 왜곡 방지 전략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10512"/>
            <a:ext cx="3611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임의로 판단하지 않도록 정확한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데이터와 기술 자료를 먼저 제공해야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 이는 AI 결과물의 신뢰성을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결정하는 핵심입니다.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2D3B2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 AGENT PROMPT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9F7F2"/>
          </a:solidFill>
          <a:ln w="12700">
            <a:solidFill>
              <a:srgbClr val="C8C0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"현재 분석된 제품 트렌드에서 식품 공전 상 허용되지 않는 원료 조합이 포함되어 있는지 법적 근거를 바탕으로 검증해줘."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프롬프트에 법적 근거와 데이터 기반 검증을 요청하면 할루시네이션을 효과적으로 방지할 수 있습니다.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55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분야 할루시네이션 실제 사례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2차시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답변, 믿어도 될까?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5F5"/>
          </a:solidFill>
          <a:ln w="12700">
            <a:solidFill>
              <a:srgbClr val="F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444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할루시네이션 발생 사례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Q. "탄산음료에 스테비올배당체 사용 기준을 알려줘"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94040"/>
                </a:solidFill>
              </a:rPr>
              <a:t>A. "스테비올배당체는 탄산음료에 0.02g/kg 이하로 사용 가능합니다"
</a:t>
            </a:r>
            <a:endParaRPr lang="en-US" sz="1000" dirty="0"/>
          </a:p>
          <a:p>
            <a:pPr indent="0" marL="0">
              <a:buNone/>
            </a:pPr>
            <a:r>
              <a:rPr lang="en-US" sz="950" b="1" dirty="0">
                <a:solidFill>
                  <a:srgbClr val="555555"/>
                </a:solidFill>
              </a:rPr>
              <a:t>   → 실제 식품공전에는 해당 수치가 존재하지 않음 (AI가 수치를 지어냄)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0FFF5"/>
          </a:solidFill>
          <a:ln w="12700">
            <a:solidFill>
              <a:srgbClr val="C0E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올바른 프롬프트로 방지한 사례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Q. "스테비올배당체의 식품공전 사용 기준을 알려줘. </a:t>
            </a:r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</a:rPr>
              <a:t>반드시 식품첨가물공전 원문을 근거로</a:t>
            </a:r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 제시하고, 확인 불가능한 정보는 '미확인'으로 표기해줘"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8B57"/>
                </a:solidFill>
              </a:rPr>
              <a:t>A. "스테비올배당체는 감미료 품목에 해당하며, 식품유형별 사용 기준은 식품첨가물공전 별표3을 참고하시기 바랍니다."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30"/>
                </a:solidFill>
              </a:rPr>
              <a:t>핵심 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</a:rPr>
              <a:t>"출처를 밝혀라", "모르면 모른다고 해라" 를 프롬프트에 반드시 포함하세요.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할루시네이션 방지 체크리스트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2차시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결과물 검증 3단계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150876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 명시 요구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"식품공전 원문을 근거로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답변해줘. 확인 불가한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정보는 '미확인'으로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표시해줘"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4173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0FF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01568" y="150876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</p:sp>
      <p:sp>
        <p:nvSpPr>
          <p:cNvPr id="17" name="Text 15"/>
          <p:cNvSpPr/>
          <p:nvPr/>
        </p:nvSpPr>
        <p:spPr>
          <a:xfrm>
            <a:off x="3401568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01568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검증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01568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답변을 반드시 재확인: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식품안전나라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식품공전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식품첨가물공전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21945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D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36208" y="1508760"/>
            <a:ext cx="640080" cy="201168"/>
          </a:xfrm>
          <a:prstGeom prst="roundRect">
            <a:avLst>
              <a:gd name="adj" fmla="val 18182"/>
            </a:avLst>
          </a:prstGeom>
          <a:solidFill>
            <a:srgbClr val="E07030"/>
          </a:solidFill>
          <a:ln/>
        </p:spPr>
      </p:sp>
      <p:sp>
        <p:nvSpPr>
          <p:cNvPr id="23" name="Text 21"/>
          <p:cNvSpPr/>
          <p:nvPr/>
        </p:nvSpPr>
        <p:spPr>
          <a:xfrm>
            <a:off x="6236208" y="1508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36208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팩트체크 습관화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236208" y="210312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원료명이 공전에 존재?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사용 기준 수치 정확?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허용 식품유형 맞는가?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인용 법령 실재하는가?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기억하세요! AI는 보조 도구입니다. 최종 판단은 반드시 공인된 데이터베이스와 법령 원문으로 검증하세요.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55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8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엔지니어링 실전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 ·  3~4차시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황금 규칙 5가지를 실무에 적용한다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페르소나 프롬프트를 설계하고 활용한다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 R&amp;D 상황별 프롬프트 템플릿을 작성한다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3차시: 프롬프트 설계 원칙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프롬프트 엔지니어링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황금 규칙 5가지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E0703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출처를 요구하라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1645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"식품공전 원문 근거로 답변해줘"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E0703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011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불확실성을 표기하라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2240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"확인 불가 정보는 '미확인' 표시"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51760"/>
            <a:ext cx="365760" cy="365760"/>
          </a:xfrm>
          <a:prstGeom prst="ellipse">
            <a:avLst/>
          </a:prstGeom>
          <a:solidFill>
            <a:srgbClr val="E0703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06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역할을 부여하라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346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"너는 식품안전 전문가야"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E070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형식을 지정하라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3429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"표 형식으로 / 3단계로 정리"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E0703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범위를 한정하라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"국내 식품공전 기준으로"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0" y="1417320"/>
            <a:ext cx="3017520" cy="2926080"/>
          </a:xfrm>
          <a:prstGeom prst="roundRect">
            <a:avLst>
              <a:gd name="adj" fmla="val 3125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481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적용 예시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852160" y="182880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"너는 식품안전 전문가야.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스테비올배당체의 탄산음료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 기준을 식품첨가물공전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별표3을 근거로 표 형식으로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정리해줘.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불가능한 정보는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'미확인'으로 표기해줘."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기법 비교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3차시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 vs Few-shot vs Chain-of-Thought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E8F1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 없이 바로 질문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"탄산음료에 사용 가능한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천연 감미료를 알려줘"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간단한 질문에 적합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0FF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예시를 먼저 제공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"예시: 스테비아→감미료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에리스리톨→당알코올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질문: 알룰로스→?"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290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분류/패턴 학습에 효과적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D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Chain-of-Thought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사고 요청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"1단계: 원료 확인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2단계: 공전 검색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3단계: 적합성 판단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순서로 분석해줘"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636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복잡한 분석에 필수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4차시: 페르소나 &amp; 역할 기반 프롬프트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 · 프롬프트 엔지니어링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페르소나 프롬프트 설계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1920240"/>
          </a:xfrm>
          <a:prstGeom prst="roundRect">
            <a:avLst>
              <a:gd name="adj" fmla="val 4762"/>
            </a:avLst>
          </a:prstGeom>
          <a:solidFill>
            <a:srgbClr val="DCF0FF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48132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8132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</a:rPr>
              <a:t>너는 식품업계 10년차 브랜드 마케터야.
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</a:rPr>
              <a:t>[역할] 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대형 식품기업 마케팅팀 과장, 음료/HMR 카테고리 전담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</a:rPr>
              <a:t>[경험] 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신제품 런칭 15건+, 편의점/대형마트 유통채널 협업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</a:rPr>
              <a:t>[말투] 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실무 용어 사용, 데이터 기반 근거 제시, 직관적 인사이트 포함
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975BC"/>
                </a:solidFill>
              </a:rPr>
              <a:t>[제약] </a:t>
            </a:r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</a:rPr>
              <a:t>실현 불가능한 아이디어 지양, 예산/일정 현실성 고려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030"/>
                </a:solidFill>
              </a:rPr>
              <a:t>🧪 실습 과제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다음 3가지 역할의 페르소나 프롬프트를 각각 작성하고, 같은 질문에 대한 AI 답변 차이를 비교하세요:
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1) 식품 R&amp;D 연구원 15년차  2) 식품안전 규제 전문가  3) MZ세대 소비자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07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 데이터와 AI: 공전·법규 활용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 ·  5~6차시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식품안전나라 API를 활용하여 데이터를 수집한다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식품공전·첨가물공전 데이터를 AI 프롬프트에 활용한다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답변을 공인 데이터베이스로 교차 검증한다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5차시: 식품안전나라 API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식품 데이터와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식품안전나라 I1250 API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182880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기본 구조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형식: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http://openapi.foodsafetykorea.go.kr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/api/{KEY}/I1250/json/{시작}/{끝}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파라미터: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PRDLST_DCNM (식품유형)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PRDLST_NM (제품명)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CHNG_DT (변경일자)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18288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182880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순서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1단계: API 키 발급 (식품안전나라)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2단계: Postman/Python으로 호출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3단계: JSON 응답 해석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4단계: 데이터 필터링/정렬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5단계: AI 프롬프트에 데이터 주입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사전 준비: 식품안전나라 회원가입 + API 키 발급 필요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6차시: 공전 데이터 기반 프롬프트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식품 데이터와 AI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주입 → AI 분석 → 결과 검증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데이터 수집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식품안전나라 API로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식품유형별 인허가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417320"/>
            <a:ext cx="54864" cy="1463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AI에 주입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76479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데이터를 프롬프트에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포함시켜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정확도 향상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17320"/>
            <a:ext cx="54864" cy="14630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904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결과 검증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1764792"/>
            <a:ext cx="2331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결과를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공전 원문과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검증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예시 프롬프트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"아래는 식품안전나라에서 수집한 '음료및다류' 카테고리의 최근 인허가 데이터야: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[API 데이터 붙여넣기]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데이터에서 1) 상위 제조사 5곳 2) 주요 트렌드 키워드 3) 신규 원료 동향을 분석해줘.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데이터에 없는 정보는 추론하지 말고 '데이터 범위 외'로 표기해줘."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4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RAG: 검색 증강 생성 활용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 ·  7~8차시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RAG의 원리를 이해한다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 문서를 벡터 DB에 저장하고 검색한다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기반 질의응답 시스템을 구축한다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7차시: RAG 개념과 아키텍처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RAG 활용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 (Retrieval-Augmented Generation)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준비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식품공전 PDF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첨가물공전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사내 규격서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56032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 변환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텍스트를 벡터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(숫자 배열)로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54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DB 저장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 인덱스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75120" y="20116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1417320"/>
            <a:ext cx="2011680" cy="1645920"/>
          </a:xfrm>
          <a:prstGeom prst="roundRect">
            <a:avLst>
              <a:gd name="adj" fmla="val 4444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4944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&amp; 생성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1488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→ 유사 문서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→ LLM이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 기반 답변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5F5"/>
          </a:solidFill>
          <a:ln w="12700">
            <a:solidFill>
              <a:srgbClr val="F0D0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83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040"/>
                </a:solidFill>
              </a:rPr>
              <a:t>왜 RAG인가?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일반 LLM은 학습 데이터에 없는 정보를 지어냅니다. RAG는 신뢰할 수 있는 문서를 실시간으로 검색하여 답변하므로 할루시네이션을 구조적으로 방지합니다. 식품공전처럼 정확성이 생명인 영역에서 필수적인 기술입니다.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8차시: 식품 RAG 시스템 실습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 · RAG 활용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ChromaDB + Gemini RAG 실습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환경 구성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3611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패키지: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chromadb (벡터 DB)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langchain (문서 처리)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sentence-transformers (임베딩)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streamlit (UI)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google-generativeai (Gemini)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pip install chromadb langchain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streamlit google-generativeai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22860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순서 (90분)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11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식품공전 PDF 로딩 (10분)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PyPDF로 텍스트 추출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청크 분할 &amp; 임베딩 (15분)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500자 단위 + 임베딩 모델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ChromaDB 저장 (10분)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벡터 인덱스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RAG 질의응답 구현 (30분)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검색 → 프롬프트 →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Streamlit UI 연동 (25분)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기반 식품 개발 워크플로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  ·  9~10차시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NPD 전 과정에 통합 활용한다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시장분석→컨셉→배합→규격검증 파이프라인을 구축한다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기반 AI 도구를 배포한다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9차시: AI 기반 NPD 파이프라인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식품 개발 워크플로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신제품 개발 8단계 AI 통합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45720" cy="10058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A.시장분석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9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Naver 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417320"/>
            <a:ext cx="45720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B.컨셉개발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GPT/Gemini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9748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417320"/>
            <a:ext cx="45720" cy="10058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C.배합설계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배합 시뮬레이터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0060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766560" y="141732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0" y="1417320"/>
            <a:ext cx="45720" cy="10058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490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D.규격검증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0372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식품공전 RAG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3720" y="20574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2651760"/>
            <a:ext cx="45720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E.표시작성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표시기준 AI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60320" y="2651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60320" y="2651760"/>
            <a:ext cx="45720" cy="10058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269748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F.시제품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9748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 목업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9748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2651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651760"/>
            <a:ext cx="45720" cy="10058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41" name="Text 39"/>
          <p:cNvSpPr/>
          <p:nvPr/>
        </p:nvSpPr>
        <p:spPr>
          <a:xfrm>
            <a:off x="480060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G.소비자조사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0060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FGD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0" y="26517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66560" y="2651760"/>
            <a:ext cx="45720" cy="1005840"/>
          </a:xfrm>
          <a:prstGeom prst="rect">
            <a:avLst/>
          </a:prstGeom>
          <a:solidFill>
            <a:srgbClr val="E07030"/>
          </a:solidFill>
          <a:ln/>
        </p:spPr>
      </p:sp>
      <p:sp>
        <p:nvSpPr>
          <p:cNvPr id="46" name="Text 44"/>
          <p:cNvSpPr/>
          <p:nvPr/>
        </p:nvSpPr>
        <p:spPr>
          <a:xfrm>
            <a:off x="6903720" y="27249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H.출시전략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0372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마케팅 AI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903720" y="32918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지원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7200" y="4114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각 단계에서 AI는 '초안 생성' 역할이며, 최종 의사결정은 반드시 전문가가 수행합니다.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10차시: Streamlit 대시보드 구축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 · 식품 개발 워크플로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음료 R&amp;D 플랫폼 실습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구성 (app.py)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3611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Tab 1: 시장 분석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Naver Shopping API 연동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⚗️ Tab 2: 배합 설계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Brix/pH 입력 → 배합 제안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Tab 3: 컨셉 시각화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DALL-E 이미지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Tab 4: AI 어시스턴트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Gemini 배합 에이전트 챗봇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22860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가이드 (90분)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1188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Streamlit 기본 구조 (10분)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st.title / st.sidebar / st.tabs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API 키 설정 (5분)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secrets.toml 파일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시장 분석 탭 구현 (20분)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Naver API → Plotly 차트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배합 설계 탭 구현 (25분)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입력 위젯 → GPT 배합 생성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챗봇 탭 구현 (20분)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Gemini 에이전트 연동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배포 및 테스트 (10분)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A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최종 프로젝트 &amp; 발표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  ·  11~12차시  ·  180분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118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AI를 활용한 신제품 개발 프로젝트를 완수한다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결과를 경영진 보고 형식으로 발표한다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활용의 한계와 윤리적 고려사항을 정리한다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11차시: 최종 프로젝트 가이드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프로젝트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활용 신제품 개발 제안서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항목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배점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평가 기준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A5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프롬프트 설계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황금 규칙 적용, 페르소나 활용, 구체성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검증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공전/API 교차 검증, 출처 명시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활용 적절성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RAG/Few-shot 등 기법 활용도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결과물 완성도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보고서 구성, 시각화, 논리성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발표 &amp; Q&amp;A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전달력, 질의응답 대응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1F8"/>
          </a:solidFill>
          <a:ln w="12700">
            <a:solidFill>
              <a:srgbClr val="C0D8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5BC"/>
                </a:solidFill>
              </a:rPr>
              <a:t>📋 산출물  </a:t>
            </a:r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① 신제품 개발 제안서 (10p 이내)  ② 발표 PPT  ③ AI 프롬프트 로그  ④ Streamlit 앱 (선택)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75B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12차시: 최종 발표 &amp; 회고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프로젝트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64592"/>
            <a:ext cx="91440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863840" y="16459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KFI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9875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발표 진행 및 AI 윤리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17320"/>
            <a:ext cx="54864" cy="13716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진행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176479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팀당 발표 10분 + Q&amp;A 5분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동료 평가 (상호 채점표)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강사 피드백 (루브릭 기반)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우수팀 선정 &amp; 시상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54864" cy="137160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9047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윤리 토론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11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결과물의 저작권은 누구에게?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AI가 잘못된 정보로 피해가 발생하면?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식품 안전에서 AI 의존의 한계는?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학술 연구에서 AI 활용 규정은?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DE8"/>
          </a:solidFill>
          <a:ln w="12700">
            <a:solidFill>
              <a:srgbClr val="E8D8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6주 과정 핵심 정리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383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✓ AI는 보조 도구 — 최종 판단은 전문가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✓ 프롬프트 설계가 결과의 80%를 좌우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✓ 출처 요구 + 불확실성 표기 = 할루시네이션 방지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✓ RAG로 신뢰할 수 있는 데이터 기반 답변 확보
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</a:rPr>
              <a:t>✓ 교차 검증은 선택이 아닌 필수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975B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743200" y="2743200"/>
            <a:ext cx="3657600" cy="9144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식품개발 실무  ·  6주 과정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840480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KFI 한국식품정보원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식품개발 실무 - 6주 과정</dc:title>
  <dc:subject>PptxGenJS Presentation</dc:subject>
  <dc:creator>한국식품정보원</dc:creator>
  <cp:lastModifiedBy>한국식품정보원</cp:lastModifiedBy>
  <cp:revision>1</cp:revision>
  <dcterms:created xsi:type="dcterms:W3CDTF">2026-03-19T21:00:27Z</dcterms:created>
  <dcterms:modified xsi:type="dcterms:W3CDTF">2026-03-19T21:00:27Z</dcterms:modified>
</cp:coreProperties>
</file>